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A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962" y="7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B0D7D79-9F6A-418B-8EBF-3EFF30A21458}" type="datetimeFigureOut">
              <a:rPr lang="ar-EG" smtClean="0"/>
              <a:t>11/02/1448</a:t>
            </a:fld>
            <a:endParaRPr lang="ar-EG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EG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EG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470408B-1059-425C-B1E0-4B06751C0CE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213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0408B-1059-425C-B1E0-4B06751C0CE9}" type="slidenum">
              <a:rPr lang="ar-EG" smtClean="0"/>
              <a:t>4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50183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UPPMS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42664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 dirty="0">
                <a:solidFill>
                  <a:srgbClr val="1FA38A"/>
                </a:solidFill>
                <a:latin typeface="Calibri"/>
              </a:rPr>
              <a:t>University</a:t>
            </a:r>
            <a:r>
              <a:rPr lang="ar-EG" sz="2600" b="0" dirty="0">
                <a:solidFill>
                  <a:srgbClr val="1FA38A"/>
                </a:solidFill>
                <a:latin typeface="Calibri"/>
              </a:rPr>
              <a:t> </a:t>
            </a:r>
            <a:r>
              <a:rPr lang="en-US" sz="2600" b="0" dirty="0">
                <a:solidFill>
                  <a:srgbClr val="1FA38A"/>
                </a:solidFill>
                <a:latin typeface="Calibri"/>
              </a:rPr>
              <a:t>Programming</a:t>
            </a:r>
            <a:r>
              <a:rPr sz="2600" b="0" dirty="0">
                <a:solidFill>
                  <a:srgbClr val="1FA38A"/>
                </a:solidFill>
                <a:latin typeface="Calibri"/>
              </a:rPr>
              <a:t> Project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Students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Baraa Abdullah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Sohayb Sabboura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Obada Kahwajy</a:t>
            </a:r>
          </a:p>
          <a:p>
            <a:pPr>
              <a:spcAft>
                <a:spcPts val="200"/>
              </a:spcAft>
            </a:pPr>
            <a:endParaRPr sz="2200" b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A38A"/>
                </a:solidFill>
                <a:latin typeface="Calibri"/>
              </a:rPr>
              <a:t>Supervised by</a:t>
            </a:r>
          </a:p>
          <a:p>
            <a:pPr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Anas Abdulaziz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39226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b="0" dirty="0">
                <a:solidFill>
                  <a:srgbClr val="FFFFFF"/>
                </a:solidFill>
                <a:latin typeface="Calibri"/>
              </a:rPr>
              <a:t>Seminar </a:t>
            </a:r>
            <a:r>
              <a:rPr lang="ar-EG" sz="1400" b="0" dirty="0">
                <a:solidFill>
                  <a:srgbClr val="FFFFFF"/>
                </a:solidFill>
                <a:latin typeface="Calibri"/>
              </a:rPr>
              <a:t> 2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Presentation  ·  Syrian Private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19" y="1274564"/>
            <a:ext cx="11603737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 Graduation projects are managed with scattered tools (chat, sheets, email).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 No reliable isolation when multiple universities share one platform.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 Choosing a project idea and breaking it into tasks is slow and unstructured.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 Defense scheduling is manual, conflict-prone, and hard to optimize.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 Supervisors and admins lack a single source of truth for proposals, progress, and defenses.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44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2. How Our System Solves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0D7A6F"/>
                </a:solidFill>
                <a:latin typeface="Calibri"/>
              </a:rPr>
              <a:t>Secure Access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Multi-tenant isolation by university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XML-based authorized registration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Role-based access (RBAC)</a:t>
            </a:r>
            <a:endParaRPr lang="ar-EG" b="0" dirty="0">
              <a:solidFill>
                <a:srgbClr val="1A1A1A"/>
              </a:solidFill>
              <a:latin typeface="Calibri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b="1" dirty="0">
                <a:solidFill>
                  <a:srgbClr val="0D7A6F"/>
                </a:solidFill>
                <a:latin typeface="Calibri"/>
              </a:rPr>
              <a:t>Smart Project Flow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AI project ideation (Gemini)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Supervisor proposal approval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AI task breakdown + GitHub link</a:t>
            </a:r>
            <a:endParaRPr lang="ar-EG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lang="ar-EG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b="1" dirty="0">
                <a:solidFill>
                  <a:srgbClr val="0D7A6F"/>
                </a:solidFill>
                <a:latin typeface="Calibri"/>
              </a:rPr>
              <a:t>Academic Control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Configurable academic tracks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Defense result updates progress</a:t>
            </a:r>
            <a:endParaRPr lang="en-US" b="0" dirty="0">
              <a:solidFill>
                <a:srgbClr val="1A1A1A"/>
              </a:solidFill>
              <a:latin typeface="Calibri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ar-EG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5577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b="1" dirty="0">
                <a:solidFill>
                  <a:srgbClr val="0D7A6F"/>
                </a:solidFill>
                <a:latin typeface="Calibri"/>
              </a:rPr>
              <a:t>Intelligent Defense Scheduling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Genetic algorithm generates conflict-aware schedules</a:t>
            </a:r>
            <a:r>
              <a:rPr lang="ar-EG" b="0" dirty="0">
                <a:solidFill>
                  <a:srgbClr val="1A1A1A"/>
                </a:solidFill>
                <a:latin typeface="Calibri"/>
              </a:rPr>
              <a:t> </a:t>
            </a:r>
            <a:r>
              <a:rPr b="0" dirty="0">
                <a:solidFill>
                  <a:srgbClr val="1A1A1A"/>
                </a:solidFill>
                <a:latin typeface="Calibri"/>
              </a:rPr>
              <a:t>Rooms, availability, committees, and constraints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A1A1A"/>
                </a:solidFill>
                <a:latin typeface="Calibri"/>
              </a:rPr>
              <a:t>Admin reviews candidates and approves the final plan</a:t>
            </a:r>
            <a:endParaRPr lang="en-US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9360" y="3657600"/>
            <a:ext cx="5394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b="1" dirty="0">
                <a:solidFill>
                  <a:srgbClr val="0D7A6F"/>
                </a:solidFill>
                <a:latin typeface="Calibri"/>
              </a:rPr>
              <a:t>One Platform</a:t>
            </a:r>
          </a:p>
          <a:p>
            <a:pPr>
              <a:spcBef>
                <a:spcPts val="6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Students, supervisors, university &amp; platform admins</a:t>
            </a:r>
          </a:p>
          <a:p>
            <a:pPr>
              <a:spcBef>
                <a:spcPts val="6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Projects, tasks, notifications, dashboards together</a:t>
            </a:r>
            <a:r>
              <a:rPr lang="en-US" b="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lang="ar-EG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4. Implemented Before vs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2400" b="1" dirty="0">
                <a:solidFill>
                  <a:srgbClr val="0D7A6F"/>
                </a:solidFill>
                <a:latin typeface="Calibri"/>
              </a:rPr>
              <a:t>Previously Implemented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Core projects, tasks, comments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Invitations &amp; GitHub linking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Notifications &amp; dashboards</a:t>
            </a:r>
            <a:endParaRPr lang="en-US" sz="240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lang="en-US" sz="240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lang="ar-EG" sz="240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lang="ar-EG" sz="240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lang="ar-EG" sz="240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lang="ar-EG" sz="240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endParaRPr lang="ar-EG" sz="24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2400" b="1" dirty="0">
                <a:solidFill>
                  <a:srgbClr val="B54A24"/>
                </a:solidFill>
                <a:latin typeface="Calibri"/>
              </a:rPr>
              <a:t>Implemented Now (Recent Phases)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Scheduling infrastructure (rooms, availability, stages)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Genetic Algorithm scheduling engine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XML registration &amp; data matching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Project proposals &amp; supervisor approval</a:t>
            </a:r>
          </a:p>
          <a:p>
            <a:pPr>
              <a:spcBef>
                <a:spcPts val="600"/>
              </a:spcBef>
            </a:pPr>
            <a:r>
              <a:rPr sz="2400" b="0" dirty="0">
                <a:solidFill>
                  <a:srgbClr val="1A1A1A"/>
                </a:solidFill>
                <a:latin typeface="Calibri"/>
              </a:rPr>
              <a:t>• Academic tracks &amp; sequential progress</a:t>
            </a:r>
          </a:p>
          <a:p>
            <a:pPr>
              <a:spcBef>
                <a:spcPts val="600"/>
              </a:spcBef>
            </a:pPr>
            <a:endParaRPr sz="2400" b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  5. Methodology</a:t>
            </a:r>
            <a:endParaRPr lang="ar-EG" sz="2600" b="1" dirty="0">
              <a:solidFill>
                <a:srgbClr val="FFFFFF"/>
              </a:solidFill>
              <a:latin typeface="Calibri"/>
            </a:endParaRPr>
          </a:p>
          <a:p>
            <a:r>
              <a:rPr lang="en-US" sz="1200" dirty="0"/>
              <a:t>        Agile Scrum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5F553162-DE8B-A20C-0388-6AC7FEB1BD1C}"/>
              </a:ext>
            </a:extLst>
          </p:cNvPr>
          <p:cNvSpPr/>
          <p:nvPr/>
        </p:nvSpPr>
        <p:spPr>
          <a:xfrm>
            <a:off x="938786" y="1304686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6937100-491C-2108-38A2-5F1C78F26FC4}"/>
              </a:ext>
            </a:extLst>
          </p:cNvPr>
          <p:cNvSpPr/>
          <p:nvPr/>
        </p:nvSpPr>
        <p:spPr>
          <a:xfrm>
            <a:off x="938786" y="1304686"/>
            <a:ext cx="73152" cy="1417320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49CC5B81-BE65-6AED-2256-D49AF135E023}"/>
              </a:ext>
            </a:extLst>
          </p:cNvPr>
          <p:cNvSpPr txBox="1"/>
          <p:nvPr/>
        </p:nvSpPr>
        <p:spPr>
          <a:xfrm>
            <a:off x="1139954" y="1414414"/>
            <a:ext cx="36575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Sprints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35E62227-8344-D3E3-3848-B22917A0DDC4}"/>
              </a:ext>
            </a:extLst>
          </p:cNvPr>
          <p:cNvSpPr txBox="1"/>
          <p:nvPr/>
        </p:nvSpPr>
        <p:spPr>
          <a:xfrm>
            <a:off x="1139954" y="1761886"/>
            <a:ext cx="365759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Work split into </a:t>
            </a:r>
            <a:r>
              <a:rPr lang="ar-EG" dirty="0"/>
              <a:t>3</a:t>
            </a:r>
            <a:r>
              <a:rPr dirty="0"/>
              <a:t> deliverable and reviewable sprint cycles.</a:t>
            </a: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2E42F7AF-3A8A-0E26-3444-979928930951}"/>
              </a:ext>
            </a:extLst>
          </p:cNvPr>
          <p:cNvSpPr/>
          <p:nvPr/>
        </p:nvSpPr>
        <p:spPr>
          <a:xfrm>
            <a:off x="7275576" y="1319855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37FEA220-5311-887C-1685-BC3C84956028}"/>
              </a:ext>
            </a:extLst>
          </p:cNvPr>
          <p:cNvSpPr/>
          <p:nvPr/>
        </p:nvSpPr>
        <p:spPr>
          <a:xfrm>
            <a:off x="7275576" y="1319855"/>
            <a:ext cx="73152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B7EFF2A9-34E1-B90E-BA4C-B346FB73ABA7}"/>
              </a:ext>
            </a:extLst>
          </p:cNvPr>
          <p:cNvSpPr txBox="1"/>
          <p:nvPr/>
        </p:nvSpPr>
        <p:spPr>
          <a:xfrm>
            <a:off x="7476744" y="1429583"/>
            <a:ext cx="36575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rPr lang="en-US" dirty="0"/>
              <a:t>Sprint Planning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37CB77BE-50EB-130C-ABAB-3042750E0FCC}"/>
              </a:ext>
            </a:extLst>
          </p:cNvPr>
          <p:cNvSpPr txBox="1"/>
          <p:nvPr/>
        </p:nvSpPr>
        <p:spPr>
          <a:xfrm>
            <a:off x="7476744" y="1777055"/>
            <a:ext cx="365759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Each phase converted to tasks in tasks.md with clear dependencies.</a:t>
            </a:r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0C5091EE-2F90-5A8A-7F4C-42C66D607244}"/>
              </a:ext>
            </a:extLst>
          </p:cNvPr>
          <p:cNvSpPr/>
          <p:nvPr/>
        </p:nvSpPr>
        <p:spPr>
          <a:xfrm>
            <a:off x="938786" y="2950606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D9D8081B-1E4D-D33C-DD7B-F9279D054519}"/>
              </a:ext>
            </a:extLst>
          </p:cNvPr>
          <p:cNvSpPr/>
          <p:nvPr/>
        </p:nvSpPr>
        <p:spPr>
          <a:xfrm>
            <a:off x="938786" y="2950606"/>
            <a:ext cx="73152" cy="1417320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38A46547-BBBA-5BB2-12F8-D6C9FD93D685}"/>
              </a:ext>
            </a:extLst>
          </p:cNvPr>
          <p:cNvSpPr txBox="1"/>
          <p:nvPr/>
        </p:nvSpPr>
        <p:spPr>
          <a:xfrm>
            <a:off x="1139954" y="3060334"/>
            <a:ext cx="36575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Spec-Driven Dev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45F9CD16-81AC-4690-8B55-B011F5E52AF8}"/>
              </a:ext>
            </a:extLst>
          </p:cNvPr>
          <p:cNvSpPr txBox="1"/>
          <p:nvPr/>
        </p:nvSpPr>
        <p:spPr>
          <a:xfrm>
            <a:off x="1139954" y="3407806"/>
            <a:ext cx="365759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Specification-driven development using Spec Kit.</a:t>
            </a:r>
          </a:p>
        </p:txBody>
      </p:sp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17AC3C4A-F4B8-BB6D-CA8A-1C18B870DB58}"/>
              </a:ext>
            </a:extLst>
          </p:cNvPr>
          <p:cNvSpPr/>
          <p:nvPr/>
        </p:nvSpPr>
        <p:spPr>
          <a:xfrm>
            <a:off x="7275576" y="2965775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6C842B05-A256-DBC4-459D-684556A8CEBA}"/>
              </a:ext>
            </a:extLst>
          </p:cNvPr>
          <p:cNvSpPr/>
          <p:nvPr/>
        </p:nvSpPr>
        <p:spPr>
          <a:xfrm>
            <a:off x="7275576" y="2965775"/>
            <a:ext cx="73152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3DC33325-925C-1F62-EBCC-AB2BA658D4C5}"/>
              </a:ext>
            </a:extLst>
          </p:cNvPr>
          <p:cNvSpPr txBox="1"/>
          <p:nvPr/>
        </p:nvSpPr>
        <p:spPr>
          <a:xfrm>
            <a:off x="7476744" y="3075503"/>
            <a:ext cx="365759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rPr lang="en-US" dirty="0"/>
              <a:t>Incremental Delivery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EFF1ABA0-2C3B-EE09-397A-D84955E43E4B}"/>
              </a:ext>
            </a:extLst>
          </p:cNvPr>
          <p:cNvSpPr txBox="1"/>
          <p:nvPr/>
        </p:nvSpPr>
        <p:spPr>
          <a:xfrm>
            <a:off x="7476744" y="3422975"/>
            <a:ext cx="365759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Each sprint ships an independently testable feature.</a:t>
            </a:r>
          </a:p>
        </p:txBody>
      </p:sp>
      <p:sp>
        <p:nvSpPr>
          <p:cNvPr id="42" name="Rounded Rectangle 23">
            <a:extLst>
              <a:ext uri="{FF2B5EF4-FFF2-40B4-BE49-F238E27FC236}">
                <a16:creationId xmlns:a16="http://schemas.microsoft.com/office/drawing/2014/main" id="{07DB3439-697D-4B52-5DF1-1D8B83F6753D}"/>
              </a:ext>
            </a:extLst>
          </p:cNvPr>
          <p:cNvSpPr/>
          <p:nvPr/>
        </p:nvSpPr>
        <p:spPr>
          <a:xfrm>
            <a:off x="938786" y="4596526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24">
            <a:extLst>
              <a:ext uri="{FF2B5EF4-FFF2-40B4-BE49-F238E27FC236}">
                <a16:creationId xmlns:a16="http://schemas.microsoft.com/office/drawing/2014/main" id="{8F4C854B-6920-DE7D-373B-88D11D3854DD}"/>
              </a:ext>
            </a:extLst>
          </p:cNvPr>
          <p:cNvSpPr/>
          <p:nvPr/>
        </p:nvSpPr>
        <p:spPr>
          <a:xfrm>
            <a:off x="938786" y="4596526"/>
            <a:ext cx="73152" cy="1417320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5">
            <a:extLst>
              <a:ext uri="{FF2B5EF4-FFF2-40B4-BE49-F238E27FC236}">
                <a16:creationId xmlns:a16="http://schemas.microsoft.com/office/drawing/2014/main" id="{BECCE8AC-D340-175D-25BA-EE2FE57E016D}"/>
              </a:ext>
            </a:extLst>
          </p:cNvPr>
          <p:cNvSpPr txBox="1"/>
          <p:nvPr/>
        </p:nvSpPr>
        <p:spPr>
          <a:xfrm>
            <a:off x="1139954" y="4706254"/>
            <a:ext cx="36575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Continuous Testing</a:t>
            </a:r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40597917-A25E-73D0-52BE-B117F1D7E809}"/>
              </a:ext>
            </a:extLst>
          </p:cNvPr>
          <p:cNvSpPr txBox="1"/>
          <p:nvPr/>
        </p:nvSpPr>
        <p:spPr>
          <a:xfrm>
            <a:off x="1139954" y="5053726"/>
            <a:ext cx="365759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PHPUnit and feature tests after every sprint.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5.1 Gantt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antt Chart 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11521440" cy="28137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5.2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38284" y="1025094"/>
            <a:ext cx="6315126" cy="5581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5.3 Activity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37" y="1051560"/>
            <a:ext cx="2450591" cy="55229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5.4 Sequence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901" y="1051560"/>
            <a:ext cx="6845717" cy="5212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5.5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-architecture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08" y="1097280"/>
            <a:ext cx="1558000" cy="55653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  6. Tools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FA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800" b="1" dirty="0">
                <a:solidFill>
                  <a:srgbClr val="0D7A6F"/>
                </a:solidFill>
                <a:latin typeface="Segoe UI Variable Text Semibold" pitchFamily="2" charset="0"/>
              </a:rPr>
              <a:t>Backend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Laravel (PHP)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Eloquent ORM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MySQL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REST API + Sanctum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800" b="1" dirty="0">
                <a:solidFill>
                  <a:srgbClr val="0D7A6F"/>
                </a:solidFill>
                <a:latin typeface="Segoe UI Variable Text Semibold" pitchFamily="2" charset="0"/>
              </a:rPr>
              <a:t>Frontend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React (Vite)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Material UI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React Router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i18n (EN / 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800" b="1" dirty="0">
                <a:solidFill>
                  <a:srgbClr val="0D7A6F"/>
                </a:solidFill>
                <a:latin typeface="Segoe UI Variable Text Semibold" pitchFamily="2" charset="0"/>
              </a:rPr>
              <a:t>AI &amp; Algorithms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Google Gemini API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Genetic Algorithm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Constraint fitness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6927" y="3749040"/>
            <a:ext cx="5577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0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800" b="1" dirty="0">
                <a:solidFill>
                  <a:srgbClr val="0D7A6F"/>
                </a:solidFill>
                <a:latin typeface="Segoe UI Variable Text Semibold" pitchFamily="2" charset="0"/>
              </a:rPr>
              <a:t>Engineering Process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Spec Kit (spec-driven development)</a:t>
            </a:r>
          </a:p>
          <a:p>
            <a:pPr>
              <a:spcBef>
                <a:spcPts val="600"/>
              </a:spcBef>
            </a:pPr>
            <a:r>
              <a:rPr sz="1400" b="0" dirty="0" err="1">
                <a:solidFill>
                  <a:srgbClr val="1A1A1A"/>
                </a:solidFill>
                <a:latin typeface="Segoe UI Variable Text Semibold" pitchFamily="2" charset="0"/>
              </a:rPr>
              <a:t>PHPUnit</a:t>
            </a: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 feature/unit tests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rgbClr val="1A1A1A"/>
                </a:solidFill>
                <a:latin typeface="Segoe UI Variable Text Semibold" pitchFamily="2" charset="0"/>
              </a:rPr>
              <a:t>Git / GitHub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7. Live Demo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90847" y="2011680"/>
            <a:ext cx="357982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dirty="0">
                <a:solidFill>
                  <a:srgbClr val="FFFFFF"/>
                </a:solidFill>
                <a:latin typeface="Berlin Sans FB" panose="020E0602020502020306" pitchFamily="34" charset="0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8168" y="2969567"/>
            <a:ext cx="24753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0" dirty="0">
                <a:solidFill>
                  <a:srgbClr val="1FA38A"/>
                </a:solidFill>
                <a:latin typeface="Berlin Sans FB Demi" panose="020E0802020502020306" pitchFamily="34" charset="0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408</Words>
  <Application>Microsoft Office PowerPoint</Application>
  <PresentationFormat>شاشة عريضة</PresentationFormat>
  <Paragraphs>90</Paragraphs>
  <Slides>13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20" baseType="lpstr">
      <vt:lpstr>Aptos</vt:lpstr>
      <vt:lpstr>Arial</vt:lpstr>
      <vt:lpstr>Berlin Sans FB</vt:lpstr>
      <vt:lpstr>Berlin Sans FB Demi</vt:lpstr>
      <vt:lpstr>Calibri</vt:lpstr>
      <vt:lpstr>Segoe UI Variable Text Semibold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baraa ah</cp:lastModifiedBy>
  <cp:revision>3</cp:revision>
  <dcterms:created xsi:type="dcterms:W3CDTF">2013-01-27T09:14:16Z</dcterms:created>
  <dcterms:modified xsi:type="dcterms:W3CDTF">2026-07-27T09:50:03Z</dcterms:modified>
  <cp:category/>
</cp:coreProperties>
</file>